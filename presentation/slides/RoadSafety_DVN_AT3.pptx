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6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666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Fatalities</c:v>
                </c:pt>
              </c:strCache>
            </c:strRef>
          </c:tx>
          <c:spPr>
            <a:ln w="25400" cap="flat">
              <a:solidFill>
                <a:srgbClr val="2E86A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1989</c:v>
                </c:pt>
                <c:pt idx="1">
                  <c:v>1993</c:v>
                </c:pt>
                <c:pt idx="2">
                  <c:v>1997</c:v>
                </c:pt>
                <c:pt idx="3">
                  <c:v>2001</c:v>
                </c:pt>
                <c:pt idx="4">
                  <c:v>2005</c:v>
                </c:pt>
                <c:pt idx="5">
                  <c:v>2009</c:v>
                </c:pt>
                <c:pt idx="6">
                  <c:v>2013</c:v>
                </c:pt>
                <c:pt idx="7">
                  <c:v>2017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  <c:pt idx="12">
                  <c:v>2024</c:v>
                </c:pt>
                <c:pt idx="13">
                  <c:v>2025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2801</c:v>
                </c:pt>
                <c:pt idx="1">
                  <c:v>1974</c:v>
                </c:pt>
                <c:pt idx="2">
                  <c:v>1767</c:v>
                </c:pt>
                <c:pt idx="3">
                  <c:v>1737</c:v>
                </c:pt>
                <c:pt idx="4">
                  <c:v>1627</c:v>
                </c:pt>
                <c:pt idx="5">
                  <c:v>1489</c:v>
                </c:pt>
                <c:pt idx="6">
                  <c:v>1193</c:v>
                </c:pt>
                <c:pt idx="7">
                  <c:v>1225</c:v>
                </c:pt>
                <c:pt idx="8">
                  <c:v>1097</c:v>
                </c:pt>
                <c:pt idx="9">
                  <c:v>1123</c:v>
                </c:pt>
                <c:pt idx="10">
                  <c:v>1194</c:v>
                </c:pt>
                <c:pt idx="11">
                  <c:v>1265</c:v>
                </c:pt>
                <c:pt idx="12">
                  <c:v>1316</c:v>
                </c:pt>
                <c:pt idx="13">
                  <c:v>1266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56-4BD1-8E64-8A20824EE7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800"/>
        </c:scaling>
        <c:delete val="0"/>
        <c:axPos val="l"/>
        <c:majorGridlines>
          <c:spPr>
            <a:ln w="6350" cap="flat">
              <a:solidFill>
                <a:srgbClr val="E5E5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Deaths per 100,000 population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90A-44E3-B2A9-26B37A1A43E4}"/>
              </c:ext>
            </c:extLst>
          </c:dPt>
          <c:dPt>
            <c:idx val="1"/>
            <c:invertIfNegative val="0"/>
            <c:bubble3D val="0"/>
            <c:spPr>
              <a:solidFill>
                <a:srgbClr val="58585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0A-44E3-B2A9-26B37A1A43E4}"/>
              </c:ext>
            </c:extLst>
          </c:dPt>
          <c:dPt>
            <c:idx val="2"/>
            <c:invertIfNegative val="0"/>
            <c:bubble3D val="0"/>
            <c:spPr>
              <a:solidFill>
                <a:srgbClr val="58585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90A-44E3-B2A9-26B37A1A43E4}"/>
              </c:ext>
            </c:extLst>
          </c:dPt>
          <c:dPt>
            <c:idx val="3"/>
            <c:invertIfNegative val="0"/>
            <c:bubble3D val="0"/>
            <c:spPr>
              <a:solidFill>
                <a:srgbClr val="58585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90A-44E3-B2A9-26B37A1A43E4}"/>
              </c:ext>
            </c:extLst>
          </c:dPt>
          <c:dPt>
            <c:idx val="4"/>
            <c:invertIfNegative val="0"/>
            <c:bubble3D val="0"/>
            <c:spPr>
              <a:solidFill>
                <a:srgbClr val="58585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90A-44E3-B2A9-26B37A1A43E4}"/>
              </c:ext>
            </c:extLst>
          </c:dPt>
          <c:dPt>
            <c:idx val="5"/>
            <c:invertIfNegative val="0"/>
            <c:bubble3D val="0"/>
            <c:spPr>
              <a:solidFill>
                <a:srgbClr val="58585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90A-44E3-B2A9-26B37A1A43E4}"/>
              </c:ext>
            </c:extLst>
          </c:dPt>
          <c:dPt>
            <c:idx val="6"/>
            <c:invertIfNegative val="0"/>
            <c:bubble3D val="0"/>
            <c:spPr>
              <a:solidFill>
                <a:srgbClr val="58585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90A-44E3-B2A9-26B37A1A43E4}"/>
              </c:ext>
            </c:extLst>
          </c:dPt>
          <c:dPt>
            <c:idx val="7"/>
            <c:invertIfNegative val="0"/>
            <c:bubble3D val="0"/>
            <c:spPr>
              <a:solidFill>
                <a:srgbClr val="58585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90A-44E3-B2A9-26B37A1A43E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7F9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NT</c:v>
                </c:pt>
                <c:pt idx="1">
                  <c:v>TAS</c:v>
                </c:pt>
                <c:pt idx="2">
                  <c:v>WA</c:v>
                </c:pt>
                <c:pt idx="3">
                  <c:v>QLD</c:v>
                </c:pt>
                <c:pt idx="4">
                  <c:v>SA</c:v>
                </c:pt>
                <c:pt idx="5">
                  <c:v>VIC</c:v>
                </c:pt>
                <c:pt idx="6">
                  <c:v>NSW</c:v>
                </c:pt>
                <c:pt idx="7">
                  <c:v>ACT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37.4</c:v>
                </c:pt>
                <c:pt idx="1">
                  <c:v>13</c:v>
                </c:pt>
                <c:pt idx="2">
                  <c:v>12.3</c:v>
                </c:pt>
                <c:pt idx="3">
                  <c:v>10.8</c:v>
                </c:pt>
                <c:pt idx="4">
                  <c:v>9.3000000000000007</c:v>
                </c:pt>
                <c:pt idx="5">
                  <c:v>8.1999999999999993</c:v>
                </c:pt>
                <c:pt idx="6">
                  <c:v>8</c:v>
                </c:pt>
                <c:pt idx="7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90A-44E3-B2A9-26B37A1A43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B2A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B2A3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Fatalities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86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932-46CB-AECC-3DBA6731450D}"/>
              </c:ext>
            </c:extLst>
          </c:dPt>
          <c:dPt>
            <c:idx val="1"/>
            <c:invertIfNegative val="0"/>
            <c:bubble3D val="0"/>
            <c:spPr>
              <a:solidFill>
                <a:srgbClr val="2E86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932-46CB-AECC-3DBA6731450D}"/>
              </c:ext>
            </c:extLst>
          </c:dPt>
          <c:dPt>
            <c:idx val="2"/>
            <c:invertIfNegative val="0"/>
            <c:bubble3D val="0"/>
            <c:spPr>
              <a:solidFill>
                <a:srgbClr val="BFBF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932-46CB-AECC-3DBA6731450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Regional
high-speed roads</c:v>
                </c:pt>
                <c:pt idx="1">
                  <c:v>Major-city
urban streets</c:v>
                </c:pt>
                <c:pt idx="2">
                  <c:v>Other road
contexts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1065</c:v>
                </c:pt>
                <c:pt idx="1">
                  <c:v>857</c:v>
                </c:pt>
                <c:pt idx="2">
                  <c:v>792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932-46CB-AECC-3DBA673145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5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Vehicle Occupant</c:v>
                </c:pt>
              </c:strCache>
            </c:strRef>
          </c:tx>
          <c:spPr>
            <a:solidFill>
              <a:srgbClr val="1B2A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Regional
high-speed</c:v>
                </c:pt>
                <c:pt idx="1">
                  <c:v>Major-city
urban</c:v>
                </c:pt>
                <c:pt idx="2">
                  <c:v>Other
contexts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874</c:v>
                </c:pt>
                <c:pt idx="1">
                  <c:v>328</c:v>
                </c:pt>
                <c:pt idx="2">
                  <c:v>417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29-4D0F-A06E-C4829D88A0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Vulnerable Road User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Regional
high-speed</c:v>
                </c:pt>
                <c:pt idx="1">
                  <c:v>Major-city
urban</c:v>
                </c:pt>
                <c:pt idx="2">
                  <c:v>Other
contexts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187</c:v>
                </c:pt>
                <c:pt idx="1">
                  <c:v>506</c:v>
                </c:pt>
                <c:pt idx="2">
                  <c:v>358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29-4D0F-A06E-C4829D88A0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D3D3D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Lives saved at 5% reduction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F3F-4F86-9B4C-DAF9C56B922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F3F-4F86-9B4C-DAF9C56B922C}"/>
              </c:ext>
            </c:extLst>
          </c:dPt>
          <c:dPt>
            <c:idx val="2"/>
            <c:invertIfNegative val="0"/>
            <c:bubble3D val="0"/>
            <c:spPr>
              <a:solidFill>
                <a:srgbClr val="BFBF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F3F-4F86-9B4C-DAF9C56B922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B2A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Regional
high-speed roads</c:v>
                </c:pt>
                <c:pt idx="1">
                  <c:v>Major-city
urban streets</c:v>
                </c:pt>
                <c:pt idx="2">
                  <c:v>Other road
contexts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</c:v>
                </c:pt>
                <c:pt idx="1">
                  <c:v>43</c:v>
                </c:pt>
                <c:pt idx="2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F3F-4F86-9B4C-DAF9C56B92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5E5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8929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9D7D1-B799-075B-2F13-7289DF8E3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503745-D744-7571-80A2-D64D92260A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0BBF1B-5C8D-AE73-FBD4-520049768D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6F477-2E65-1417-47FB-8EFE1771F1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208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ublic.tableau.com/app/profile/shameel.zeshan.khader.sheriff/viz/DVNAT3Final/FinalDashboard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6576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2643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2,714 Australians died on our roads between 2024 and Jan 2026 — most during ordinary daytime travel.</a:t>
            </a:r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68580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7F9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Everyday</a:t>
            </a:r>
            <a:endParaRPr lang="en-US" sz="5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7F9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Fatality Pattern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85800" y="3000756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Australia should target road safety funding first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5960" y="3658830"/>
            <a:ext cx="7772400" cy="13716"/>
          </a:xfrm>
          <a:prstGeom prst="rect">
            <a:avLst/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364867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BITRE ARDD 1989–2026   ·   ABS Population Data   ·   Open-Meteo Weather API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370302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DVN  — Group 18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0" y="228600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endParaRPr lang="en-US" sz="13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25535B-9846-905E-A704-2CAF6DE9D047}"/>
              </a:ext>
            </a:extLst>
          </p:cNvPr>
          <p:cNvSpPr txBox="1"/>
          <p:nvPr/>
        </p:nvSpPr>
        <p:spPr>
          <a:xfrm>
            <a:off x="701040" y="3311628"/>
            <a:ext cx="7335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Prepared for National Road Safety Funding Committee &amp; Federal Transport Minister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247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30352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sources. One integrated story.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8138160" cy="13716"/>
          </a:xfrm>
          <a:prstGeom prst="rect">
            <a:avLst/>
          </a:prstGeom>
          <a:solidFill>
            <a:srgbClr val="E5E5E3"/>
          </a:solidFill>
          <a:ln w="12700">
            <a:solidFill>
              <a:srgbClr val="E5E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2697480" cy="2496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3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2697480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DATASET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BITRE — Australian Road Deaths Database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1989–Jan 2026  ·  Monthly updates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450592"/>
            <a:ext cx="2423160" cy="10973"/>
          </a:xfrm>
          <a:prstGeom prst="rect">
            <a:avLst/>
          </a:prstGeom>
          <a:solidFill>
            <a:srgbClr val="E5E5E3"/>
          </a:solidFill>
          <a:ln w="12700">
            <a:solidFill>
              <a:srgbClr val="E5E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842" y="2522982"/>
            <a:ext cx="2240280" cy="9243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Death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Group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" y="379476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7512" y="408736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1298448"/>
            <a:ext cx="2697480" cy="2496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3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46120" y="1298448"/>
            <a:ext cx="2697480" cy="36576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83280" y="14173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83280" y="16459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 — Population Data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21488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state-level projections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83280" y="2450592"/>
            <a:ext cx="2423160" cy="10973"/>
          </a:xfrm>
          <a:prstGeom prst="rect">
            <a:avLst/>
          </a:prstGeom>
          <a:solidFill>
            <a:srgbClr val="E5E5E3"/>
          </a:solidFill>
          <a:ln w="12700">
            <a:solidFill>
              <a:srgbClr val="E5E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83280" y="2578608"/>
            <a:ext cx="2423160" cy="1094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Converts Death into er-capita risk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Enables fair state comparison</a:t>
            </a:r>
          </a:p>
        </p:txBody>
      </p:sp>
      <p:sp>
        <p:nvSpPr>
          <p:cNvPr id="26" name="Text 24"/>
          <p:cNvSpPr/>
          <p:nvPr/>
        </p:nvSpPr>
        <p:spPr>
          <a:xfrm>
            <a:off x="3502152" y="350215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02152" y="379476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02152" y="408736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80760" y="1298448"/>
            <a:ext cx="2697480" cy="2496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3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80760" y="1298448"/>
            <a:ext cx="2697480" cy="36576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17920" y="14173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17920" y="16459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— Historical Weather API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21488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State-month context  ·  Not crash-day causation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17920" y="2450592"/>
            <a:ext cx="2423160" cy="10973"/>
          </a:xfrm>
          <a:prstGeom prst="rect">
            <a:avLst/>
          </a:prstGeom>
          <a:solidFill>
            <a:srgbClr val="E5E5E3"/>
          </a:solidFill>
          <a:ln w="12700">
            <a:solidFill>
              <a:srgbClr val="E5E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17920" y="2578608"/>
            <a:ext cx="2423160" cy="1094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Adds seasonal context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Not used for crash causation</a:t>
            </a:r>
          </a:p>
        </p:txBody>
      </p:sp>
      <p:sp>
        <p:nvSpPr>
          <p:cNvPr id="39" name="Text 37"/>
          <p:cNvSpPr/>
          <p:nvPr/>
        </p:nvSpPr>
        <p:spPr>
          <a:xfrm>
            <a:off x="6336792" y="350215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36792" y="379476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36792" y="408736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" y="4956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 and integrated by DVN — Group 18  ·  36104 Data Visualisation and Narratives  ·  May 2026</a:t>
            </a:r>
            <a:endParaRPr lang="en-US" sz="8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213309-EEF1-CA61-AD90-926C8EFD6153}"/>
              </a:ext>
            </a:extLst>
          </p:cNvPr>
          <p:cNvSpPr txBox="1"/>
          <p:nvPr/>
        </p:nvSpPr>
        <p:spPr>
          <a:xfrm>
            <a:off x="342138" y="4181817"/>
            <a:ext cx="880186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By combining these datasets, we moved from raw crash counts to intervention-focused insight.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0E5DB-EF73-2128-F321-71CF1E8D3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441F8C9-4970-0E1E-F321-57D983D8E644}"/>
              </a:ext>
            </a:extLst>
          </p:cNvPr>
          <p:cNvSpPr/>
          <p:nvPr/>
        </p:nvSpPr>
        <p:spPr>
          <a:xfrm>
            <a:off x="502920" y="305801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b="1" kern="0" spc="300" dirty="0">
                <a:solidFill>
                  <a:srgbClr val="2E86AB"/>
                </a:solidFill>
                <a:latin typeface="Calibri" pitchFamily="34" charset="0"/>
                <a:cs typeface="Calibri" pitchFamily="34" charset="-120"/>
              </a:rPr>
              <a:t>Live Tableau Story Prototype</a:t>
            </a:r>
            <a:endParaRPr lang="en-US" sz="1200" b="1" kern="0" spc="300" dirty="0">
              <a:solidFill>
                <a:srgbClr val="2E86AB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33AD6C-70DB-8A4D-E8A8-610E5FEB26E8}"/>
              </a:ext>
            </a:extLst>
          </p:cNvPr>
          <p:cNvSpPr/>
          <p:nvPr/>
        </p:nvSpPr>
        <p:spPr>
          <a:xfrm>
            <a:off x="548640" y="575549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>
                <a:solidFill>
                  <a:srgbClr val="1C1C1C"/>
                </a:solidFill>
                <a:latin typeface="Georgia" pitchFamily="34" charset="0"/>
              </a:rPr>
              <a:t>We now move from the data sources to the interactive narrative: where road safety funding should go first</a:t>
            </a:r>
            <a:r>
              <a:rPr lang="en-IN" sz="1400" dirty="0"/>
              <a:t>.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465D81D-105B-002B-0596-DA3DC7573415}"/>
              </a:ext>
            </a:extLst>
          </p:cNvPr>
          <p:cNvSpPr/>
          <p:nvPr/>
        </p:nvSpPr>
        <p:spPr>
          <a:xfrm>
            <a:off x="502920" y="1143000"/>
            <a:ext cx="8138160" cy="13716"/>
          </a:xfrm>
          <a:prstGeom prst="rect">
            <a:avLst/>
          </a:prstGeom>
          <a:solidFill>
            <a:srgbClr val="E5E5E3"/>
          </a:solidFill>
          <a:ln w="12700">
            <a:solidFill>
              <a:srgbClr val="E5E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B19B0B63-818A-20A5-420E-201099570B09}"/>
              </a:ext>
            </a:extLst>
          </p:cNvPr>
          <p:cNvSpPr/>
          <p:nvPr/>
        </p:nvSpPr>
        <p:spPr>
          <a:xfrm>
            <a:off x="502920" y="4956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 and integrated by DVN — Group 18  ·  36104 Data Visualisation and Narratives  ·  May 2026</a:t>
            </a:r>
            <a:endParaRPr lang="en-US" sz="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DF7D75-63AB-9386-A7D7-581BA21C1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633" y="1253338"/>
            <a:ext cx="5196733" cy="31675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06C455-D996-2A09-C649-11F2AEAC61A0}"/>
              </a:ext>
            </a:extLst>
          </p:cNvPr>
          <p:cNvSpPr txBox="1"/>
          <p:nvPr/>
        </p:nvSpPr>
        <p:spPr>
          <a:xfrm>
            <a:off x="502920" y="4361165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Open Tableau Story : </a:t>
            </a:r>
            <a:r>
              <a:rPr lang="en-US" sz="1400" dirty="0">
                <a:hlinkClick r:id="rId4"/>
              </a:rPr>
              <a:t>https://</a:t>
            </a:r>
            <a:r>
              <a:rPr lang="en-US" sz="1400" dirty="0" err="1">
                <a:hlinkClick r:id="rId4"/>
              </a:rPr>
              <a:t>public.tableau.com</a:t>
            </a:r>
            <a:r>
              <a:rPr lang="en-US" sz="1400" dirty="0">
                <a:hlinkClick r:id="rId4"/>
              </a:rPr>
              <a:t>/app/profile/</a:t>
            </a:r>
            <a:r>
              <a:rPr lang="en-US" sz="1400" dirty="0" err="1">
                <a:hlinkClick r:id="rId4"/>
              </a:rPr>
              <a:t>shameel.zeshan.khader.sheriff</a:t>
            </a:r>
            <a:r>
              <a:rPr lang="en-US" sz="1400" dirty="0">
                <a:hlinkClick r:id="rId4"/>
              </a:rPr>
              <a:t>/viz/DVNAT3Final/</a:t>
            </a:r>
            <a:r>
              <a:rPr lang="en-US" sz="1400" dirty="0" err="1">
                <a:hlinkClick r:id="rId4"/>
              </a:rPr>
              <a:t>FinalDashboard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39103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458506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Fatalities are rising again after a decade of progress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8138160" cy="13716"/>
          </a:xfrm>
          <a:prstGeom prst="rect">
            <a:avLst/>
          </a:prstGeom>
          <a:solidFill>
            <a:srgbClr val="E5E5E3"/>
          </a:solidFill>
          <a:ln w="12700">
            <a:solidFill>
              <a:srgbClr val="E5E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3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36576" cy="10972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0936" y="137160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2,714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30936" y="19385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fatalities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(2024–Jan 2026)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87752" y="1298448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3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87752" y="1298448"/>
            <a:ext cx="36576" cy="10972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15768" y="137160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+1.9%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715768" y="19385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from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to 2025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72584" y="1298448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3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72584" y="1298448"/>
            <a:ext cx="36576" cy="10972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37160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37.4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00600" y="19385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 deaths per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population 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57416" y="1298448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3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757416" y="1298448"/>
            <a:ext cx="36576" cy="10972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85432" y="137160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70.8%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885432" y="19385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5000"/>
              </a:lnSpc>
            </a:pPr>
            <a:r>
              <a:rPr lang="en-US" sz="1000" dirty="0">
                <a:solidFill>
                  <a:schemeClr val="bg2">
                    <a:lumMod val="75000"/>
                  </a:schemeClr>
                </a:solidFill>
              </a:rPr>
              <a:t>Deaths concentrated in just two intervention theatres</a:t>
            </a:r>
          </a:p>
        </p:txBody>
      </p:sp>
      <p:graphicFrame>
        <p:nvGraphicFramePr>
          <p:cNvPr id="21" name="Chart 0"/>
          <p:cNvGraphicFramePr/>
          <p:nvPr/>
        </p:nvGraphicFramePr>
        <p:xfrm>
          <a:off x="502920" y="2514600"/>
          <a:ext cx="81381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484632" y="4956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/>
              <a:t>“But the issue isn’t only how many people die – it’s where those deaths are concentrated”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5537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Australians live dramatically changes their likelihood of surviving the road system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8229600" cy="13716"/>
          </a:xfrm>
          <a:prstGeom prst="rect">
            <a:avLst/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664208"/>
          <a:ext cx="530352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126480" y="17373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37.4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612648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per 100,000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Northern Territory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0" y="3337560"/>
            <a:ext cx="2743200" cy="13716"/>
          </a:xfrm>
          <a:prstGeom prst="rect">
            <a:avLst/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26480" y="345643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7A7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6114288" y="41879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per 100,000 in the ACT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4956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BITRE ARDD + ABS Population Data (population-adjusted rates)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247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CONCENTRATION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fatalities are concentrated in two predictable road environments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84732"/>
            <a:ext cx="8138160" cy="13716"/>
          </a:xfrm>
          <a:prstGeom prst="rect">
            <a:avLst/>
          </a:prstGeom>
          <a:solidFill>
            <a:srgbClr val="E5E5E3"/>
          </a:solidFill>
          <a:ln w="12700">
            <a:solidFill>
              <a:srgbClr val="E5E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by road type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1627632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2984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dying, by road type</a:t>
            </a:r>
            <a:endParaRPr lang="en-US" sz="11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663440" y="1627632"/>
          <a:ext cx="42062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4956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BITRE ARDD 2024–Jan 2026</a:t>
            </a:r>
            <a:endParaRPr lang="en-US" sz="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9CD5E6-3EE4-6CEC-01B1-F470F371B98D}"/>
              </a:ext>
            </a:extLst>
          </p:cNvPr>
          <p:cNvSpPr txBox="1"/>
          <p:nvPr/>
        </p:nvSpPr>
        <p:spPr>
          <a:xfrm>
            <a:off x="411480" y="4384024"/>
            <a:ext cx="646362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Different environments require different interventions strategies</a:t>
            </a:r>
          </a:p>
          <a:p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But the biggest surprise appeared when we analyzed timing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900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7F9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Deaths occur during ordinary daytime movement – not late night extremes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8229600" cy="13716"/>
          </a:xfrm>
          <a:prstGeom prst="rect">
            <a:avLst/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38988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night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984248" y="138988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01568" y="138988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Daytime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18888" y="138988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36208" y="138988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" y="173126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1719072"/>
            <a:ext cx="1325880" cy="347472"/>
          </a:xfrm>
          <a:prstGeom prst="rect">
            <a:avLst/>
          </a:prstGeom>
          <a:solidFill>
            <a:srgbClr val="6B6B6B">
              <a:alpha val="18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171907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84248" y="1719072"/>
            <a:ext cx="1325880" cy="347472"/>
          </a:xfrm>
          <a:prstGeom prst="rect">
            <a:avLst/>
          </a:prstGeom>
          <a:solidFill>
            <a:srgbClr val="6B6B6B">
              <a:alpha val="16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84248" y="171907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01568" y="1719072"/>
            <a:ext cx="1325880" cy="347472"/>
          </a:xfrm>
          <a:prstGeom prst="rect">
            <a:avLst/>
          </a:prstGeom>
          <a:solidFill>
            <a:srgbClr val="2E86AB">
              <a:alpha val="74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01568" y="171907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18888" y="1719072"/>
            <a:ext cx="1325880" cy="347472"/>
          </a:xfrm>
          <a:prstGeom prst="rect">
            <a:avLst/>
          </a:prstGeom>
          <a:solidFill>
            <a:srgbClr val="6B6B6B">
              <a:alpha val="19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18888" y="171907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36208" y="1719072"/>
            <a:ext cx="1325880" cy="347472"/>
          </a:xfrm>
          <a:prstGeom prst="rect">
            <a:avLst/>
          </a:prstGeom>
          <a:solidFill>
            <a:srgbClr val="6B6B6B">
              <a:alpha val="20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36208" y="171907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" y="211226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2112264"/>
            <a:ext cx="1325880" cy="347472"/>
          </a:xfrm>
          <a:prstGeom prst="rect">
            <a:avLst/>
          </a:prstGeom>
          <a:solidFill>
            <a:srgbClr val="6B6B6B">
              <a:alpha val="14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211226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84248" y="2112264"/>
            <a:ext cx="1325880" cy="347472"/>
          </a:xfrm>
          <a:prstGeom prst="rect">
            <a:avLst/>
          </a:prstGeom>
          <a:solidFill>
            <a:srgbClr val="6B6B6B">
              <a:alpha val="17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984248" y="211226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01568" y="2112264"/>
            <a:ext cx="1325880" cy="347472"/>
          </a:xfrm>
          <a:prstGeom prst="rect">
            <a:avLst/>
          </a:prstGeom>
          <a:solidFill>
            <a:srgbClr val="2E86AB">
              <a:alpha val="62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01568" y="211226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18888" y="2112264"/>
            <a:ext cx="1325880" cy="347472"/>
          </a:xfrm>
          <a:prstGeom prst="rect">
            <a:avLst/>
          </a:prstGeom>
          <a:solidFill>
            <a:srgbClr val="6B6B6B">
              <a:alpha val="21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18888" y="211226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36208" y="2112264"/>
            <a:ext cx="1325880" cy="347472"/>
          </a:xfrm>
          <a:prstGeom prst="rect">
            <a:avLst/>
          </a:prstGeom>
          <a:solidFill>
            <a:srgbClr val="6B6B6B">
              <a:alpha val="22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36208" y="211226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01168" y="250545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" y="2505456"/>
            <a:ext cx="1325880" cy="347472"/>
          </a:xfrm>
          <a:prstGeom prst="rect">
            <a:avLst/>
          </a:prstGeom>
          <a:solidFill>
            <a:srgbClr val="6B6B6B">
              <a:alpha val="16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66928" y="250545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984248" y="2505456"/>
            <a:ext cx="1325880" cy="347472"/>
          </a:xfrm>
          <a:prstGeom prst="rect">
            <a:avLst/>
          </a:prstGeom>
          <a:solidFill>
            <a:srgbClr val="6B6B6B">
              <a:alpha val="16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984248" y="250545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01568" y="2505456"/>
            <a:ext cx="1325880" cy="347472"/>
          </a:xfrm>
          <a:prstGeom prst="rect">
            <a:avLst/>
          </a:prstGeom>
          <a:solidFill>
            <a:srgbClr val="2E86AB">
              <a:alpha val="68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01568" y="250545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18888" y="2505456"/>
            <a:ext cx="1325880" cy="347472"/>
          </a:xfrm>
          <a:prstGeom prst="rect">
            <a:avLst/>
          </a:prstGeom>
          <a:solidFill>
            <a:srgbClr val="6B6B6B">
              <a:alpha val="22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18888" y="250545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36208" y="2505456"/>
            <a:ext cx="1325880" cy="347472"/>
          </a:xfrm>
          <a:prstGeom prst="rect">
            <a:avLst/>
          </a:prstGeom>
          <a:solidFill>
            <a:srgbClr val="6B6B6B">
              <a:alpha val="25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36208" y="250545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28600" y="289864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6928" y="2898648"/>
            <a:ext cx="1325880" cy="347472"/>
          </a:xfrm>
          <a:prstGeom prst="rect">
            <a:avLst/>
          </a:prstGeom>
          <a:solidFill>
            <a:srgbClr val="6B6B6B">
              <a:alpha val="20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66928" y="289864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984248" y="2898648"/>
            <a:ext cx="1325880" cy="347472"/>
          </a:xfrm>
          <a:prstGeom prst="rect">
            <a:avLst/>
          </a:prstGeom>
          <a:solidFill>
            <a:srgbClr val="6B6B6B">
              <a:alpha val="17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984248" y="289864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401568" y="2898648"/>
            <a:ext cx="1325880" cy="347472"/>
          </a:xfrm>
          <a:prstGeom prst="rect">
            <a:avLst/>
          </a:prstGeom>
          <a:solidFill>
            <a:srgbClr val="2E86AB">
              <a:alpha val="79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401568" y="289864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18888" y="2898648"/>
            <a:ext cx="1325880" cy="347472"/>
          </a:xfrm>
          <a:prstGeom prst="rect">
            <a:avLst/>
          </a:prstGeom>
          <a:solidFill>
            <a:srgbClr val="6B6B6B">
              <a:alpha val="23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18888" y="289864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36208" y="2898648"/>
            <a:ext cx="1325880" cy="347472"/>
          </a:xfrm>
          <a:prstGeom prst="rect">
            <a:avLst/>
          </a:prstGeom>
          <a:solidFill>
            <a:srgbClr val="6B6B6B">
              <a:alpha val="22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236208" y="289864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65176" y="32918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66928" y="3291840"/>
            <a:ext cx="1325880" cy="347472"/>
          </a:xfrm>
          <a:prstGeom prst="rect">
            <a:avLst/>
          </a:prstGeom>
          <a:solidFill>
            <a:srgbClr val="6B6B6B">
              <a:alpha val="20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66928" y="32918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984248" y="3291840"/>
            <a:ext cx="1325880" cy="347472"/>
          </a:xfrm>
          <a:prstGeom prst="rect">
            <a:avLst/>
          </a:prstGeom>
          <a:solidFill>
            <a:srgbClr val="6B6B6B">
              <a:alpha val="17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984248" y="32918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401568" y="3291840"/>
            <a:ext cx="1325880" cy="347472"/>
          </a:xfrm>
          <a:prstGeom prst="rect">
            <a:avLst/>
          </a:prstGeom>
          <a:solidFill>
            <a:srgbClr val="2E86AB">
              <a:alpha val="78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401568" y="32918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818888" y="3291840"/>
            <a:ext cx="1325880" cy="347472"/>
          </a:xfrm>
          <a:prstGeom prst="rect">
            <a:avLst/>
          </a:prstGeom>
          <a:solidFill>
            <a:srgbClr val="6B6B6B">
              <a:alpha val="23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818888" y="32918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236208" y="3291840"/>
            <a:ext cx="1325880" cy="347472"/>
          </a:xfrm>
          <a:prstGeom prst="rect">
            <a:avLst/>
          </a:prstGeom>
          <a:solidFill>
            <a:srgbClr val="6B6B6B">
              <a:alpha val="27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236208" y="32918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280416" y="368503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66928" y="3685032"/>
            <a:ext cx="1325880" cy="347472"/>
          </a:xfrm>
          <a:prstGeom prst="rect">
            <a:avLst/>
          </a:prstGeom>
          <a:solidFill>
            <a:srgbClr val="6B6B6B">
              <a:alpha val="21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66928" y="368503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984248" y="3685032"/>
            <a:ext cx="1325880" cy="347472"/>
          </a:xfrm>
          <a:prstGeom prst="rect">
            <a:avLst/>
          </a:prstGeom>
          <a:solidFill>
            <a:srgbClr val="6B6B6B">
              <a:alpha val="13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984248" y="368503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401568" y="3685032"/>
            <a:ext cx="1325880" cy="347472"/>
          </a:xfrm>
          <a:prstGeom prst="rect">
            <a:avLst/>
          </a:prstGeom>
          <a:solidFill>
            <a:srgbClr val="2E86AB">
              <a:alpha val="76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401568" y="368503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818888" y="3685032"/>
            <a:ext cx="1325880" cy="347472"/>
          </a:xfrm>
          <a:prstGeom prst="rect">
            <a:avLst/>
          </a:prstGeom>
          <a:solidFill>
            <a:srgbClr val="6B6B6B">
              <a:alpha val="20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818888" y="368503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236208" y="3685032"/>
            <a:ext cx="1325880" cy="347472"/>
          </a:xfrm>
          <a:prstGeom prst="rect">
            <a:avLst/>
          </a:prstGeom>
          <a:solidFill>
            <a:srgbClr val="6B6B6B">
              <a:alpha val="26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236208" y="368503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252984" y="407822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566928" y="4078224"/>
            <a:ext cx="1325880" cy="347472"/>
          </a:xfrm>
          <a:prstGeom prst="rect">
            <a:avLst/>
          </a:prstGeom>
          <a:solidFill>
            <a:srgbClr val="6B6B6B">
              <a:alpha val="24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566928" y="407822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984248" y="4078224"/>
            <a:ext cx="1325880" cy="347472"/>
          </a:xfrm>
          <a:prstGeom prst="rect">
            <a:avLst/>
          </a:prstGeom>
          <a:solidFill>
            <a:srgbClr val="6B6B6B">
              <a:alpha val="16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1984248" y="407822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401568" y="4078224"/>
            <a:ext cx="1325880" cy="347472"/>
          </a:xfrm>
          <a:prstGeom prst="rect">
            <a:avLst/>
          </a:prstGeom>
          <a:solidFill>
            <a:srgbClr val="2E86AB">
              <a:alpha val="90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3401568" y="407822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818888" y="4078224"/>
            <a:ext cx="1325880" cy="347472"/>
          </a:xfrm>
          <a:prstGeom prst="rect">
            <a:avLst/>
          </a:prstGeom>
          <a:solidFill>
            <a:srgbClr val="6B6B6B">
              <a:alpha val="22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4818888" y="407822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236208" y="4078224"/>
            <a:ext cx="1325880" cy="347472"/>
          </a:xfrm>
          <a:prstGeom prst="rect">
            <a:avLst/>
          </a:prstGeom>
          <a:solidFill>
            <a:srgbClr val="6B6B6B">
              <a:alpha val="23000"/>
            </a:srgbClr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236208" y="407822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7635240" y="1417320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Sunday</a:t>
            </a:r>
            <a:endParaRPr lang="en-US" sz="1300" b="1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Daytime:</a:t>
            </a:r>
            <a:endParaRPr lang="en-US" sz="1300" b="1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 deaths</a:t>
            </a:r>
            <a:endParaRPr lang="en-US" sz="1300" b="1" dirty="0"/>
          </a:p>
        </p:txBody>
      </p:sp>
      <p:sp>
        <p:nvSpPr>
          <p:cNvPr id="88" name="Text 86"/>
          <p:cNvSpPr/>
          <p:nvPr/>
        </p:nvSpPr>
        <p:spPr>
          <a:xfrm>
            <a:off x="7635240" y="251460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single</a:t>
            </a:r>
            <a:endParaRPr lang="en-US" sz="9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in the dataset.</a:t>
            </a:r>
            <a:endParaRPr lang="en-US" sz="9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daytime travel is the dominant fatality pattern.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502920" y="4956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BFE33AC-87B9-3B91-6FAD-A0A814547FDA}"/>
              </a:ext>
            </a:extLst>
          </p:cNvPr>
          <p:cNvSpPr txBox="1"/>
          <p:nvPr/>
        </p:nvSpPr>
        <p:spPr>
          <a:xfrm>
            <a:off x="390144" y="4588746"/>
            <a:ext cx="7741920" cy="333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This means fatalities are not random – which also means prevention is possible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95943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B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modest 5% intervention could prevent 136 deaths.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90472"/>
            <a:ext cx="8138160" cy="13716"/>
          </a:xfrm>
          <a:prstGeom prst="rect">
            <a:avLst/>
          </a:prstGeom>
          <a:solidFill>
            <a:srgbClr val="E5E5E3"/>
          </a:solidFill>
          <a:ln w="12700">
            <a:solidFill>
              <a:srgbClr val="E5E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136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502920" y="29992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lives saved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33375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targeted intervention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across all theatres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11880" y="1600200"/>
            <a:ext cx="13716" cy="2560320"/>
          </a:xfrm>
          <a:prstGeom prst="rect">
            <a:avLst/>
          </a:prstGeom>
          <a:solidFill>
            <a:srgbClr val="E5E5E3"/>
          </a:solidFill>
          <a:ln w="12700">
            <a:solidFill>
              <a:srgbClr val="E5E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94760" y="1600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saved by intervention theatre</a:t>
            </a:r>
            <a:endParaRPr lang="en-US" sz="11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3703320" y="1938528"/>
          <a:ext cx="507492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42245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roads deliver the greatest impact per intervention dollar</a:t>
            </a:r>
          </a:p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 the policy response should be targeted, measurable and immediate</a:t>
            </a:r>
            <a:endParaRPr lang="en-US" sz="1500" b="1" dirty="0"/>
          </a:p>
        </p:txBody>
      </p:sp>
      <p:sp>
        <p:nvSpPr>
          <p:cNvPr id="12" name="Text 9"/>
          <p:cNvSpPr/>
          <p:nvPr/>
        </p:nvSpPr>
        <p:spPr>
          <a:xfrm>
            <a:off x="502920" y="4956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BITRE ARDD dashboard what-if parameterisation · DVN Group 18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targeted actions. One funding commitment.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8138160" cy="13716"/>
          </a:xfrm>
          <a:prstGeom prst="rect">
            <a:avLst/>
          </a:prstGeom>
          <a:solidFill>
            <a:srgbClr val="E5E5E3"/>
          </a:solidFill>
          <a:ln w="12700">
            <a:solidFill>
              <a:srgbClr val="E5E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685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261872" y="1389888"/>
            <a:ext cx="36576" cy="822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17320" y="13716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Regional Roads in next Funding cycle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72821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roads carry 39% of all deaths — the highest of any theatre — yet receive the smallest share of safety investment. NT, WA and QLD are the priority states. This is the highest-ROI action available.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395728"/>
            <a:ext cx="8138160" cy="13716"/>
          </a:xfrm>
          <a:prstGeom prst="rect">
            <a:avLst/>
          </a:prstGeom>
          <a:solidFill>
            <a:srgbClr val="E5E5E3"/>
          </a:solidFill>
          <a:ln w="12700">
            <a:solidFill>
              <a:srgbClr val="E5E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468880"/>
            <a:ext cx="685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261872" y="2560320"/>
            <a:ext cx="36576" cy="822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17320" y="254203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Urban Pedestrians and Cyclists before Fatalities rise further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28986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Major-city streets account for 30% of deaths, overwhelmingly affecting pedestrians and cyclists. Targeted urban speed reduction and infrastructure upgrades will address the city-specific risk profile.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8138160" cy="13716"/>
          </a:xfrm>
          <a:prstGeom prst="rect">
            <a:avLst/>
          </a:prstGeom>
          <a:solidFill>
            <a:srgbClr val="E5E5E3"/>
          </a:solidFill>
          <a:ln w="12700">
            <a:solidFill>
              <a:srgbClr val="E5E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639312"/>
            <a:ext cx="685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1261872" y="3730752"/>
            <a:ext cx="36576" cy="822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17320" y="371246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Dashboard into a National Accoountability Tracker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069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is already built and live on Tableau Public. Commission it as an official quarterly monitoring tool. Transparent public reporting is what sustains political will across election cycles.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956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DVN — Group 18  ·  BITRE ARDD + ABS Population + Open-Meteo  ·  May 2026</a:t>
            </a:r>
            <a:endParaRPr lang="en-US" sz="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0DC81A-CDDD-629F-6812-F2595D908185}"/>
              </a:ext>
            </a:extLst>
          </p:cNvPr>
          <p:cNvSpPr txBox="1"/>
          <p:nvPr/>
        </p:nvSpPr>
        <p:spPr>
          <a:xfrm>
            <a:off x="502920" y="4648271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The evidence is already visible. The remaining question is whether action follows.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35424" y="0"/>
            <a:ext cx="36576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IS YOURS.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6576" cy="9601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7F9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2,714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1536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fatalities in scope (2024–Jan 2026)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36576" cy="9601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16712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7F9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70.8%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deaths in two addressable theatres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28416"/>
            <a:ext cx="36576" cy="9601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37413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7F9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136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40080" y="3950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saved at just 5% targeted intervention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590288"/>
            <a:ext cx="3840480" cy="13716"/>
          </a:xfrm>
          <a:prstGeom prst="rect">
            <a:avLst/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BITRE ARDD + ABS Population + Open-Meteo  ·  DVN  Group 18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800600" y="3328416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B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17" name="Shape 15"/>
          <p:cNvSpPr/>
          <p:nvPr/>
        </p:nvSpPr>
        <p:spPr>
          <a:xfrm>
            <a:off x="4800600" y="4786376"/>
            <a:ext cx="4114800" cy="13716"/>
          </a:xfrm>
          <a:prstGeom prst="rect">
            <a:avLst/>
          </a:prstGeom>
          <a:solidFill>
            <a:srgbClr val="E5E5E3"/>
          </a:solidFill>
          <a:ln w="12700">
            <a:solidFill>
              <a:srgbClr val="E5E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475488"/>
            <a:ext cx="411480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/>
              <a:t>Road fatalities are no longer a mystery problem.</a:t>
            </a:r>
            <a:br>
              <a:rPr lang="en-US" b="1" dirty="0"/>
            </a:br>
            <a:r>
              <a:rPr lang="en-US" b="1" dirty="0"/>
              <a:t>The data now shows exactly where intervention saves the most lives.</a:t>
            </a:r>
            <a:endParaRPr lang="en-US" sz="1800" b="1" dirty="0"/>
          </a:p>
        </p:txBody>
      </p:sp>
      <p:sp>
        <p:nvSpPr>
          <p:cNvPr id="19" name="Text 17"/>
          <p:cNvSpPr/>
          <p:nvPr/>
        </p:nvSpPr>
        <p:spPr>
          <a:xfrm>
            <a:off x="4800600" y="422452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44622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88840" y="46634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782</Words>
  <Application>Microsoft Office PowerPoint</Application>
  <PresentationFormat>On-screen Show (16:9)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Everyday Fatality Pattern</dc:title>
  <dc:subject>PptxGenJS Presentation</dc:subject>
  <dc:creator>PptxGenJS</dc:creator>
  <cp:lastModifiedBy>Pal Patel</cp:lastModifiedBy>
  <cp:revision>7</cp:revision>
  <dcterms:created xsi:type="dcterms:W3CDTF">2026-05-12T11:41:26Z</dcterms:created>
  <dcterms:modified xsi:type="dcterms:W3CDTF">2026-05-12T23:00:33Z</dcterms:modified>
</cp:coreProperties>
</file>