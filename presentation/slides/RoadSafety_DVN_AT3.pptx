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5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6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86A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46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Fatalities</c:v>
                </c:pt>
              </c:strCache>
            </c:strRef>
          </c:tx>
          <c:spPr>
            <a:ln w="25400" cap="flat">
              <a:solidFill>
                <a:srgbClr val="2E86A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86AB"/>
              </a:solidFill>
              <a:ln w="9525" cap="flat">
                <a:solidFill>
                  <a:srgbClr val="2E86AB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1989</c:v>
                </c:pt>
                <c:pt idx="1">
                  <c:v>1993</c:v>
                </c:pt>
                <c:pt idx="2">
                  <c:v>1997</c:v>
                </c:pt>
                <c:pt idx="3">
                  <c:v>2001</c:v>
                </c:pt>
                <c:pt idx="4">
                  <c:v>2005</c:v>
                </c:pt>
                <c:pt idx="5">
                  <c:v>2009</c:v>
                </c:pt>
                <c:pt idx="6">
                  <c:v>2013</c:v>
                </c:pt>
                <c:pt idx="7">
                  <c:v>2017</c:v>
                </c:pt>
                <c:pt idx="8">
                  <c:v>2020</c:v>
                </c:pt>
                <c:pt idx="9">
                  <c:v>2021</c:v>
                </c:pt>
                <c:pt idx="10">
                  <c:v>2022</c:v>
                </c:pt>
                <c:pt idx="11">
                  <c:v>2023</c:v>
                </c:pt>
                <c:pt idx="12">
                  <c:v>2024</c:v>
                </c:pt>
                <c:pt idx="13">
                  <c:v>2025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2801</c:v>
                </c:pt>
                <c:pt idx="1">
                  <c:v>1974</c:v>
                </c:pt>
                <c:pt idx="2">
                  <c:v>1767</c:v>
                </c:pt>
                <c:pt idx="3">
                  <c:v>1737</c:v>
                </c:pt>
                <c:pt idx="4">
                  <c:v>1627</c:v>
                </c:pt>
                <c:pt idx="5">
                  <c:v>1489</c:v>
                </c:pt>
                <c:pt idx="6">
                  <c:v>1193</c:v>
                </c:pt>
                <c:pt idx="7">
                  <c:v>1225</c:v>
                </c:pt>
                <c:pt idx="8">
                  <c:v>1097</c:v>
                </c:pt>
                <c:pt idx="9">
                  <c:v>1123</c:v>
                </c:pt>
                <c:pt idx="10">
                  <c:v>1194</c:v>
                </c:pt>
                <c:pt idx="11">
                  <c:v>1265</c:v>
                </c:pt>
                <c:pt idx="12">
                  <c:v>1316</c:v>
                </c:pt>
                <c:pt idx="13">
                  <c:v>1266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456-4BD1-8E64-8A20824EE7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A8A8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800"/>
        </c:scaling>
        <c:delete val="0"/>
        <c:axPos val="l"/>
        <c:majorGridlines>
          <c:spPr>
            <a:ln w="6350" cap="flat">
              <a:solidFill>
                <a:srgbClr val="E5E5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A8A8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Deaths per 100,000 population</c:v>
                </c:pt>
              </c:strCache>
            </c:strRef>
          </c:tx>
          <c:spPr>
            <a:solidFill>
              <a:srgbClr val="2E86A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90A-44E3-B2A9-26B37A1A43E4}"/>
              </c:ext>
            </c:extLst>
          </c:dPt>
          <c:dPt>
            <c:idx val="1"/>
            <c:invertIfNegative val="0"/>
            <c:bubble3D val="0"/>
            <c:spPr>
              <a:solidFill>
                <a:srgbClr val="58585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90A-44E3-B2A9-26B37A1A43E4}"/>
              </c:ext>
            </c:extLst>
          </c:dPt>
          <c:dPt>
            <c:idx val="2"/>
            <c:invertIfNegative val="0"/>
            <c:bubble3D val="0"/>
            <c:spPr>
              <a:solidFill>
                <a:srgbClr val="58585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90A-44E3-B2A9-26B37A1A43E4}"/>
              </c:ext>
            </c:extLst>
          </c:dPt>
          <c:dPt>
            <c:idx val="3"/>
            <c:invertIfNegative val="0"/>
            <c:bubble3D val="0"/>
            <c:spPr>
              <a:solidFill>
                <a:srgbClr val="58585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90A-44E3-B2A9-26B37A1A43E4}"/>
              </c:ext>
            </c:extLst>
          </c:dPt>
          <c:dPt>
            <c:idx val="4"/>
            <c:invertIfNegative val="0"/>
            <c:bubble3D val="0"/>
            <c:spPr>
              <a:solidFill>
                <a:srgbClr val="58585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90A-44E3-B2A9-26B37A1A43E4}"/>
              </c:ext>
            </c:extLst>
          </c:dPt>
          <c:dPt>
            <c:idx val="5"/>
            <c:invertIfNegative val="0"/>
            <c:bubble3D val="0"/>
            <c:spPr>
              <a:solidFill>
                <a:srgbClr val="58585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90A-44E3-B2A9-26B37A1A43E4}"/>
              </c:ext>
            </c:extLst>
          </c:dPt>
          <c:dPt>
            <c:idx val="6"/>
            <c:invertIfNegative val="0"/>
            <c:bubble3D val="0"/>
            <c:spPr>
              <a:solidFill>
                <a:srgbClr val="58585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90A-44E3-B2A9-26B37A1A43E4}"/>
              </c:ext>
            </c:extLst>
          </c:dPt>
          <c:dPt>
            <c:idx val="7"/>
            <c:invertIfNegative val="0"/>
            <c:bubble3D val="0"/>
            <c:spPr>
              <a:solidFill>
                <a:srgbClr val="58585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190A-44E3-B2A9-26B37A1A43E4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F7F9FC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NT</c:v>
                </c:pt>
                <c:pt idx="1">
                  <c:v>TAS</c:v>
                </c:pt>
                <c:pt idx="2">
                  <c:v>WA</c:v>
                </c:pt>
                <c:pt idx="3">
                  <c:v>QLD</c:v>
                </c:pt>
                <c:pt idx="4">
                  <c:v>SA</c:v>
                </c:pt>
                <c:pt idx="5">
                  <c:v>VIC</c:v>
                </c:pt>
                <c:pt idx="6">
                  <c:v>NSW</c:v>
                </c:pt>
                <c:pt idx="7">
                  <c:v>ACT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37.4</c:v>
                </c:pt>
                <c:pt idx="1">
                  <c:v>13</c:v>
                </c:pt>
                <c:pt idx="2">
                  <c:v>12.3</c:v>
                </c:pt>
                <c:pt idx="3">
                  <c:v>10.8</c:v>
                </c:pt>
                <c:pt idx="4">
                  <c:v>9.3000000000000007</c:v>
                </c:pt>
                <c:pt idx="5">
                  <c:v>8.1999999999999993</c:v>
                </c:pt>
                <c:pt idx="6">
                  <c:v>8</c:v>
                </c:pt>
                <c:pt idx="7">
                  <c:v>4.2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90A-44E3-B2A9-26B37A1A43E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1B2A3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B2A3B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Fatalities</c:v>
                </c:pt>
              </c:strCache>
            </c:strRef>
          </c:tx>
          <c:spPr>
            <a:solidFill>
              <a:srgbClr val="2E86A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932-46CB-AECC-3DBA6731450D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8932-46CB-AECC-3DBA6731450D}"/>
              </c:ext>
            </c:extLst>
          </c:dPt>
          <c:dPt>
            <c:idx val="2"/>
            <c:invertIfNegative val="0"/>
            <c:bubble3D val="0"/>
            <c:spPr>
              <a:solidFill>
                <a:srgbClr val="BFBFB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932-46CB-AECC-3DBA6731450D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2A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Regional
high-speed roads</c:v>
                </c:pt>
                <c:pt idx="1">
                  <c:v>Major-city
urban streets</c:v>
                </c:pt>
                <c:pt idx="2">
                  <c:v>Other road
contexts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1065</c:v>
                </c:pt>
                <c:pt idx="1">
                  <c:v>857</c:v>
                </c:pt>
                <c:pt idx="2">
                  <c:v>792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932-46CB-AECC-3DBA6731450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A8A8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5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A8A8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Vehicle Occupant</c:v>
                </c:pt>
              </c:strCache>
            </c:strRef>
          </c:tx>
          <c:spPr>
            <a:solidFill>
              <a:srgbClr val="1B2A3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A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Regional
high-speed</c:v>
                </c:pt>
                <c:pt idx="1">
                  <c:v>Major-city
urban</c:v>
                </c:pt>
                <c:pt idx="2">
                  <c:v>Other
contexts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874</c:v>
                </c:pt>
                <c:pt idx="1">
                  <c:v>328</c:v>
                </c:pt>
                <c:pt idx="2">
                  <c:v>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B29-4D0F-A06E-C4829D88A04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Vulnerable Road User</c:v>
                </c:pt>
              </c:strCache>
            </c:strRef>
          </c:tx>
          <c:spPr>
            <a:solidFill>
              <a:srgbClr val="2E86A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2A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Regional
high-speed</c:v>
                </c:pt>
                <c:pt idx="1">
                  <c:v>Major-city
urban</c:v>
                </c:pt>
                <c:pt idx="2">
                  <c:v>Other
contexts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187</c:v>
                </c:pt>
                <c:pt idx="1">
                  <c:v>506</c:v>
                </c:pt>
                <c:pt idx="2">
                  <c:v>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B29-4D0F-A06E-C4829D88A04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D3D3D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Lives saved at 5% reduction</c:v>
                </c:pt>
              </c:strCache>
            </c:strRef>
          </c:tx>
          <c:spPr>
            <a:solidFill>
              <a:srgbClr val="2E86A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F3F-4F86-9B4C-DAF9C56B922C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4F3F-4F86-9B4C-DAF9C56B922C}"/>
              </c:ext>
            </c:extLst>
          </c:dPt>
          <c:dPt>
            <c:idx val="2"/>
            <c:invertIfNegative val="0"/>
            <c:bubble3D val="0"/>
            <c:spPr>
              <a:solidFill>
                <a:srgbClr val="BFBFB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F3F-4F86-9B4C-DAF9C56B922C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1B2A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Regional
high-speed roads</c:v>
                </c:pt>
                <c:pt idx="1">
                  <c:v>Major-city
urban streets</c:v>
                </c:pt>
                <c:pt idx="2">
                  <c:v>Other road
contexts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53</c:v>
                </c:pt>
                <c:pt idx="1">
                  <c:v>43</c:v>
                </c:pt>
                <c:pt idx="2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F3F-4F86-9B4C-DAF9C56B922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A8A8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5E5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A8A8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89292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9D7D1-B799-075B-2F13-7289DF8E3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503745-D744-7571-80A2-D64D92260A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0BBF1B-5C8D-AE73-FBD4-520049768D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C6F477-2E65-1417-47FB-8EFE1771F1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208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public.tableau.com/app/profile/shameel.zeshan.khader.sheriff/viz/RoadDeathsAreNotRandomAustraliasPreventableFatalityPattern/FinalDashboard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6576" cy="164592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726436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chemeClr val="bg1"/>
                </a:solidFill>
              </a:rPr>
              <a:t>2,714 Australians died on our roads between 2024 and Jan 2026 — most during ordinary daytime travel.</a:t>
            </a:r>
          </a:p>
        </p:txBody>
      </p:sp>
      <p:sp>
        <p:nvSpPr>
          <p:cNvPr id="4" name="Text 2"/>
          <p:cNvSpPr/>
          <p:nvPr/>
        </p:nvSpPr>
        <p:spPr>
          <a:xfrm>
            <a:off x="685800" y="777240"/>
            <a:ext cx="685800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5400" b="1" dirty="0">
                <a:solidFill>
                  <a:srgbClr val="F7F9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Everyday</a:t>
            </a:r>
            <a:endParaRPr lang="en-US" sz="5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5400" b="1" dirty="0">
                <a:solidFill>
                  <a:srgbClr val="F7F9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Fatality Pattern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85800" y="3000756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Australia should target road safety funding first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95960" y="3658830"/>
            <a:ext cx="7772400" cy="13716"/>
          </a:xfrm>
          <a:prstGeom prst="rect">
            <a:avLst/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364867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BITRE ARDD 1989–2026   ·   ABS Population Data   ·   Open-Meteo Weather API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0" y="3703026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DVN  — Group 18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0" y="2286000"/>
            <a:ext cx="4754880" cy="2560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r">
              <a:buNone/>
            </a:pPr>
            <a:endParaRPr lang="en-US" sz="13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25535B-9846-905E-A704-2CAF6DE9D047}"/>
              </a:ext>
            </a:extLst>
          </p:cNvPr>
          <p:cNvSpPr txBox="1"/>
          <p:nvPr/>
        </p:nvSpPr>
        <p:spPr>
          <a:xfrm>
            <a:off x="701040" y="3311628"/>
            <a:ext cx="79400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</a:rPr>
              <a:t>Prepared for the Federal Transport Minister reviewing national road safety funding priorities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247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38912" y="530352"/>
            <a:ext cx="8138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sources. One integrated story.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8138160" cy="13716"/>
          </a:xfrm>
          <a:prstGeom prst="rect">
            <a:avLst/>
          </a:prstGeom>
          <a:solidFill>
            <a:srgbClr val="E5E5E3"/>
          </a:solidFill>
          <a:ln w="12700">
            <a:solidFill>
              <a:srgbClr val="E5E5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11480" y="1298448"/>
            <a:ext cx="2697480" cy="2496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3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11480" y="1298448"/>
            <a:ext cx="2697480" cy="36576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DATASET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64592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BITRE — Australian Road Deaths Database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14884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1989–Jan 2026  ·  Monthly updates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2450592"/>
            <a:ext cx="2423160" cy="10973"/>
          </a:xfrm>
          <a:prstGeom prst="rect">
            <a:avLst/>
          </a:prstGeom>
          <a:solidFill>
            <a:srgbClr val="E5E5E3"/>
          </a:solidFill>
          <a:ln w="12700">
            <a:solidFill>
              <a:srgbClr val="E5E5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842" y="2522982"/>
            <a:ext cx="2240280" cy="9243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Location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of Death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Type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Group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7512" y="3794760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67512" y="4087368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46120" y="1298448"/>
            <a:ext cx="2697480" cy="2496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3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246120" y="1298448"/>
            <a:ext cx="2697480" cy="36576"/>
          </a:xfrm>
          <a:prstGeom prst="rect">
            <a:avLst/>
          </a:prstGeom>
          <a:solidFill>
            <a:srgbClr val="8A8A8A"/>
          </a:solidFill>
          <a:ln w="12700">
            <a:solidFill>
              <a:srgbClr val="8A8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383280" y="141732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 1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383280" y="164592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 — Population Data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83280" y="214884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State-year estimated resident population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383280" y="2450592"/>
            <a:ext cx="2423160" cy="10973"/>
          </a:xfrm>
          <a:prstGeom prst="rect">
            <a:avLst/>
          </a:prstGeom>
          <a:solidFill>
            <a:srgbClr val="E5E5E3"/>
          </a:solidFill>
          <a:ln w="12700">
            <a:solidFill>
              <a:srgbClr val="E5E5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383280" y="2578608"/>
            <a:ext cx="2423160" cy="1094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500" dirty="0"/>
              <a:t>Converts Death into per-capita risk</a:t>
            </a:r>
          </a:p>
          <a:p>
            <a:pPr marL="171450" indent="-17145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500" dirty="0"/>
              <a:t>Enables fair state comparison</a:t>
            </a:r>
          </a:p>
        </p:txBody>
      </p:sp>
      <p:sp>
        <p:nvSpPr>
          <p:cNvPr id="26" name="Text 24"/>
          <p:cNvSpPr/>
          <p:nvPr/>
        </p:nvSpPr>
        <p:spPr>
          <a:xfrm>
            <a:off x="3502152" y="3502152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502152" y="3794760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502152" y="4087368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080760" y="1298448"/>
            <a:ext cx="2697480" cy="2496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3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080760" y="1298448"/>
            <a:ext cx="2697480" cy="36576"/>
          </a:xfrm>
          <a:prstGeom prst="rect">
            <a:avLst/>
          </a:prstGeom>
          <a:solidFill>
            <a:srgbClr val="8A8A8A"/>
          </a:solidFill>
          <a:ln w="12700">
            <a:solidFill>
              <a:srgbClr val="8A8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217920" y="141732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 2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217920" y="164592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— Historical Weather API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17920" y="214884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State-month context  ·  Not crash-day causation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217920" y="2450592"/>
            <a:ext cx="2423160" cy="10973"/>
          </a:xfrm>
          <a:prstGeom prst="rect">
            <a:avLst/>
          </a:prstGeom>
          <a:solidFill>
            <a:srgbClr val="E5E5E3"/>
          </a:solidFill>
          <a:ln w="12700">
            <a:solidFill>
              <a:srgbClr val="E5E5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217920" y="2578608"/>
            <a:ext cx="2423160" cy="1094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500" dirty="0"/>
              <a:t>Adds seasonal context</a:t>
            </a:r>
          </a:p>
          <a:p>
            <a:pPr marL="171450" indent="-17145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500" dirty="0"/>
              <a:t>Not used for crash causation</a:t>
            </a:r>
          </a:p>
        </p:txBody>
      </p:sp>
      <p:sp>
        <p:nvSpPr>
          <p:cNvPr id="39" name="Text 37"/>
          <p:cNvSpPr/>
          <p:nvPr/>
        </p:nvSpPr>
        <p:spPr>
          <a:xfrm>
            <a:off x="6336792" y="3502152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336792" y="3794760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336792" y="4087368"/>
            <a:ext cx="2240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49560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collected and integrated by DVN — Group 18  ·  36104 Data Visualisation and Narratives  ·  May 2026</a:t>
            </a:r>
            <a:endParaRPr lang="en-US" sz="8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3213309-EEF1-CA61-AD90-926C8EFD6153}"/>
              </a:ext>
            </a:extLst>
          </p:cNvPr>
          <p:cNvSpPr txBox="1"/>
          <p:nvPr/>
        </p:nvSpPr>
        <p:spPr>
          <a:xfrm>
            <a:off x="342138" y="4181817"/>
            <a:ext cx="880186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dirty="0"/>
              <a:t>By combining these datasets, we moved from raw crash counts to intervention-focused insight.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0E5DB-EF73-2128-F321-71CF1E8D3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441F8C9-4970-0E1E-F321-57D983D8E644}"/>
              </a:ext>
            </a:extLst>
          </p:cNvPr>
          <p:cNvSpPr/>
          <p:nvPr/>
        </p:nvSpPr>
        <p:spPr>
          <a:xfrm>
            <a:off x="502920" y="305801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200" b="1" kern="0" spc="300" dirty="0">
                <a:solidFill>
                  <a:srgbClr val="2E86AB"/>
                </a:solidFill>
                <a:latin typeface="Calibri" pitchFamily="34" charset="0"/>
                <a:cs typeface="Calibri" pitchFamily="34" charset="-120"/>
              </a:rPr>
              <a:t>Live Tableau Story Prototype</a:t>
            </a:r>
            <a:endParaRPr lang="en-US" sz="1200" b="1" kern="0" spc="300" dirty="0">
              <a:solidFill>
                <a:srgbClr val="2E86AB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D33AD6C-70DB-8A4D-E8A8-610E5FEB26E8}"/>
              </a:ext>
            </a:extLst>
          </p:cNvPr>
          <p:cNvSpPr/>
          <p:nvPr/>
        </p:nvSpPr>
        <p:spPr>
          <a:xfrm>
            <a:off x="548640" y="575549"/>
            <a:ext cx="8138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400" b="1" dirty="0">
                <a:solidFill>
                  <a:srgbClr val="1C1C1C"/>
                </a:solidFill>
                <a:latin typeface="Georgia" pitchFamily="34" charset="0"/>
              </a:rPr>
              <a:t>We now move from the data sources to the interactive narrative: where road safety funding should go first</a:t>
            </a:r>
            <a:r>
              <a:rPr lang="en-IN" sz="1400" dirty="0"/>
              <a:t>.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465D81D-105B-002B-0596-DA3DC7573415}"/>
              </a:ext>
            </a:extLst>
          </p:cNvPr>
          <p:cNvSpPr/>
          <p:nvPr/>
        </p:nvSpPr>
        <p:spPr>
          <a:xfrm>
            <a:off x="502920" y="1143000"/>
            <a:ext cx="8138160" cy="13716"/>
          </a:xfrm>
          <a:prstGeom prst="rect">
            <a:avLst/>
          </a:prstGeom>
          <a:solidFill>
            <a:srgbClr val="E5E5E3"/>
          </a:solidFill>
          <a:ln w="12700">
            <a:solidFill>
              <a:srgbClr val="E5E5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B19B0B63-818A-20A5-420E-201099570B09}"/>
              </a:ext>
            </a:extLst>
          </p:cNvPr>
          <p:cNvSpPr/>
          <p:nvPr/>
        </p:nvSpPr>
        <p:spPr>
          <a:xfrm>
            <a:off x="502920" y="49560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collected and integrated by DVN — Group 18  ·  36104 Data Visualisation and Narratives  ·  May 2026</a:t>
            </a:r>
            <a:endParaRPr lang="en-US" sz="8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3DF7D75-63AB-9386-A7D7-581BA21C1F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3633" y="1253338"/>
            <a:ext cx="5196733" cy="31675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E06C455-D996-2A09-C649-11F2AEAC61A0}"/>
              </a:ext>
            </a:extLst>
          </p:cNvPr>
          <p:cNvSpPr txBox="1"/>
          <p:nvPr/>
        </p:nvSpPr>
        <p:spPr>
          <a:xfrm>
            <a:off x="502920" y="4361165"/>
            <a:ext cx="82296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Open Tableau Story: </a:t>
            </a:r>
            <a:r>
              <a:rPr lang="en-US" sz="1400" dirty="0">
                <a:hlinkClick r:id="rId4"/>
              </a:rPr>
              <a:t>https://public.tableau.com/app/profile/shameel.zeshan.khader.sheriff/viz/RoadDeathsAreNotRandomAustraliasPreventableFatalityPattern/FinalDashboard</a:t>
            </a: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91037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458506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Fatalities are rising again after a decade of progress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8138160" cy="13716"/>
          </a:xfrm>
          <a:prstGeom prst="rect">
            <a:avLst/>
          </a:prstGeom>
          <a:solidFill>
            <a:srgbClr val="E5E5E3"/>
          </a:solidFill>
          <a:ln w="12700">
            <a:solidFill>
              <a:srgbClr val="E5E5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298448"/>
            <a:ext cx="19202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3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298448"/>
            <a:ext cx="36576" cy="109728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30936" y="1371600"/>
            <a:ext cx="1737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2,714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30936" y="1938528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fatalities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(2024–Jan 2026)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87752" y="1298448"/>
            <a:ext cx="19202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3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587752" y="1298448"/>
            <a:ext cx="36576" cy="109728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715768" y="1371600"/>
            <a:ext cx="1737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+1.9%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715768" y="1938528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from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to 2025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72584" y="1298448"/>
            <a:ext cx="19202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3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672584" y="1298448"/>
            <a:ext cx="36576" cy="109728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00600" y="1371600"/>
            <a:ext cx="1737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37.4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800600" y="1938528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 deaths per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100k population 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757416" y="1298448"/>
            <a:ext cx="19202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3"/>
            </a:solidFill>
            <a:prstDash val="solid"/>
          </a:ln>
          <a:effectLst>
            <a:outerShdw blurRad="1270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757416" y="1298448"/>
            <a:ext cx="36576" cy="109728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885432" y="1371600"/>
            <a:ext cx="1737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70.8%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6885432" y="1938528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35000"/>
              </a:lnSpc>
            </a:pPr>
            <a:r>
              <a:rPr lang="en-US" sz="1000" dirty="0">
                <a:solidFill>
                  <a:schemeClr val="bg2">
                    <a:lumMod val="75000"/>
                  </a:schemeClr>
                </a:solidFill>
              </a:rPr>
              <a:t>Deaths concentrated in just two intervention theatres</a:t>
            </a:r>
          </a:p>
        </p:txBody>
      </p:sp>
      <p:graphicFrame>
        <p:nvGraphicFramePr>
          <p:cNvPr id="21" name="Chart 0"/>
          <p:cNvGraphicFramePr/>
          <p:nvPr/>
        </p:nvGraphicFramePr>
        <p:xfrm>
          <a:off x="502920" y="2514600"/>
          <a:ext cx="81381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Text 19"/>
          <p:cNvSpPr/>
          <p:nvPr/>
        </p:nvSpPr>
        <p:spPr>
          <a:xfrm>
            <a:off x="484632" y="49560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/>
              <a:t>“But the issue isn’t only how many people die – it’s where those deaths are concentrated”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5537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WHERE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Where Australians live dramatically changes their likelihood of surviving the road system</a:t>
            </a:r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8229600" cy="13716"/>
          </a:xfrm>
          <a:prstGeom prst="rect">
            <a:avLst/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5" name="Chart 0"/>
          <p:cNvGraphicFramePr/>
          <p:nvPr/>
        </p:nvGraphicFramePr>
        <p:xfrm>
          <a:off x="502920" y="1664208"/>
          <a:ext cx="5303520" cy="3154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6126480" y="173736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37.4</a:t>
            </a:r>
            <a:endParaRPr lang="en-US" sz="7200" dirty="0"/>
          </a:p>
        </p:txBody>
      </p:sp>
      <p:sp>
        <p:nvSpPr>
          <p:cNvPr id="7" name="Text 4"/>
          <p:cNvSpPr/>
          <p:nvPr/>
        </p:nvSpPr>
        <p:spPr>
          <a:xfrm>
            <a:off x="6126480" y="27432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deaths per 100,000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Northern Territory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0" y="3337560"/>
            <a:ext cx="2743200" cy="13716"/>
          </a:xfrm>
          <a:prstGeom prst="rect">
            <a:avLst/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126480" y="3456432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7A7A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4.2</a:t>
            </a:r>
            <a:endParaRPr lang="en-US" sz="5200" dirty="0"/>
          </a:p>
        </p:txBody>
      </p:sp>
      <p:sp>
        <p:nvSpPr>
          <p:cNvPr id="10" name="Text 7"/>
          <p:cNvSpPr/>
          <p:nvPr/>
        </p:nvSpPr>
        <p:spPr>
          <a:xfrm>
            <a:off x="6114288" y="4187952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deaths per 100,000 in the ACT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" y="49560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BITRE ARDD + ABS Population Data (population-adjusted rates)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247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CONCENTRATION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fatalities are concentrated in two predictable road environments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284732"/>
            <a:ext cx="8138160" cy="13716"/>
          </a:xfrm>
          <a:prstGeom prst="rect">
            <a:avLst/>
          </a:prstGeom>
          <a:solidFill>
            <a:srgbClr val="E5E5E3"/>
          </a:solidFill>
          <a:ln w="12700">
            <a:solidFill>
              <a:srgbClr val="E5E5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298448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Deaths by road type</a:t>
            </a:r>
            <a:endParaRPr lang="en-US" sz="11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411480" y="1627632"/>
          <a:ext cx="41148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 4"/>
          <p:cNvSpPr/>
          <p:nvPr/>
        </p:nvSpPr>
        <p:spPr>
          <a:xfrm>
            <a:off x="4754880" y="1298448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dying, by road type</a:t>
            </a:r>
            <a:endParaRPr lang="en-US" sz="1100" dirty="0"/>
          </a:p>
        </p:txBody>
      </p:sp>
      <p:graphicFrame>
        <p:nvGraphicFramePr>
          <p:cNvPr id="8" name="Chart 1"/>
          <p:cNvGraphicFramePr/>
          <p:nvPr/>
        </p:nvGraphicFramePr>
        <p:xfrm>
          <a:off x="4663440" y="1627632"/>
          <a:ext cx="420624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Text 5"/>
          <p:cNvSpPr/>
          <p:nvPr/>
        </p:nvSpPr>
        <p:spPr>
          <a:xfrm>
            <a:off x="502920" y="49560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BITRE ARDD 2024–Jan 2026</a:t>
            </a:r>
            <a:endParaRPr lang="en-US" sz="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9CD5E6-3EE4-6CEC-01B1-F470F371B98D}"/>
              </a:ext>
            </a:extLst>
          </p:cNvPr>
          <p:cNvSpPr txBox="1"/>
          <p:nvPr/>
        </p:nvSpPr>
        <p:spPr>
          <a:xfrm>
            <a:off x="411480" y="4384024"/>
            <a:ext cx="646362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Different environments require different intervention strategies</a:t>
            </a:r>
          </a:p>
          <a:p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But the biggest surprise appeared when we analyzed timing patterns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900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7772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7F9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Deaths occur during ordinary daytime movement – not late night extremes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61872"/>
            <a:ext cx="8229600" cy="13716"/>
          </a:xfrm>
          <a:prstGeom prst="rect">
            <a:avLst/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1389888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night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984248" y="1389888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01568" y="1389888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Daytime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818888" y="1389888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Evening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236208" y="1389888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01168" y="1731264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6928" y="1719072"/>
            <a:ext cx="1325880" cy="347472"/>
          </a:xfrm>
          <a:prstGeom prst="rect">
            <a:avLst/>
          </a:prstGeom>
          <a:solidFill>
            <a:srgbClr val="6B6B6B">
              <a:alpha val="18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66928" y="1719072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984248" y="1719072"/>
            <a:ext cx="1325880" cy="347472"/>
          </a:xfrm>
          <a:prstGeom prst="rect">
            <a:avLst/>
          </a:prstGeom>
          <a:solidFill>
            <a:srgbClr val="6B6B6B">
              <a:alpha val="16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984248" y="1719072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401568" y="1719072"/>
            <a:ext cx="1325880" cy="347472"/>
          </a:xfrm>
          <a:prstGeom prst="rect">
            <a:avLst/>
          </a:prstGeom>
          <a:solidFill>
            <a:srgbClr val="2E86AB">
              <a:alpha val="74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401568" y="1719072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18888" y="1719072"/>
            <a:ext cx="1325880" cy="347472"/>
          </a:xfrm>
          <a:prstGeom prst="rect">
            <a:avLst/>
          </a:prstGeom>
          <a:solidFill>
            <a:srgbClr val="6B6B6B">
              <a:alpha val="19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18888" y="1719072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36208" y="1719072"/>
            <a:ext cx="1325880" cy="347472"/>
          </a:xfrm>
          <a:prstGeom prst="rect">
            <a:avLst/>
          </a:prstGeom>
          <a:solidFill>
            <a:srgbClr val="6B6B6B">
              <a:alpha val="20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236208" y="1719072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01168" y="2112264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2112264"/>
            <a:ext cx="1325880" cy="347472"/>
          </a:xfrm>
          <a:prstGeom prst="rect">
            <a:avLst/>
          </a:prstGeom>
          <a:solidFill>
            <a:srgbClr val="6B6B6B">
              <a:alpha val="14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66928" y="2112264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984248" y="2112264"/>
            <a:ext cx="1325880" cy="347472"/>
          </a:xfrm>
          <a:prstGeom prst="rect">
            <a:avLst/>
          </a:prstGeom>
          <a:solidFill>
            <a:srgbClr val="6B6B6B">
              <a:alpha val="17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984248" y="2112264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01568" y="2112264"/>
            <a:ext cx="1325880" cy="347472"/>
          </a:xfrm>
          <a:prstGeom prst="rect">
            <a:avLst/>
          </a:prstGeom>
          <a:solidFill>
            <a:srgbClr val="2E86AB">
              <a:alpha val="62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401568" y="2112264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18888" y="2112264"/>
            <a:ext cx="1325880" cy="347472"/>
          </a:xfrm>
          <a:prstGeom prst="rect">
            <a:avLst/>
          </a:prstGeom>
          <a:solidFill>
            <a:srgbClr val="6B6B6B">
              <a:alpha val="21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818888" y="2112264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36208" y="2112264"/>
            <a:ext cx="1325880" cy="347472"/>
          </a:xfrm>
          <a:prstGeom prst="rect">
            <a:avLst/>
          </a:prstGeom>
          <a:solidFill>
            <a:srgbClr val="6B6B6B">
              <a:alpha val="22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236208" y="2112264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01168" y="2505456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66928" y="2505456"/>
            <a:ext cx="1325880" cy="347472"/>
          </a:xfrm>
          <a:prstGeom prst="rect">
            <a:avLst/>
          </a:prstGeom>
          <a:solidFill>
            <a:srgbClr val="6B6B6B">
              <a:alpha val="16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66928" y="2505456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984248" y="2505456"/>
            <a:ext cx="1325880" cy="347472"/>
          </a:xfrm>
          <a:prstGeom prst="rect">
            <a:avLst/>
          </a:prstGeom>
          <a:solidFill>
            <a:srgbClr val="6B6B6B">
              <a:alpha val="16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984248" y="2505456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401568" y="2505456"/>
            <a:ext cx="1325880" cy="347472"/>
          </a:xfrm>
          <a:prstGeom prst="rect">
            <a:avLst/>
          </a:prstGeom>
          <a:solidFill>
            <a:srgbClr val="2E86AB">
              <a:alpha val="68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401568" y="2505456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818888" y="2505456"/>
            <a:ext cx="1325880" cy="347472"/>
          </a:xfrm>
          <a:prstGeom prst="rect">
            <a:avLst/>
          </a:prstGeom>
          <a:solidFill>
            <a:srgbClr val="6B6B6B">
              <a:alpha val="22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818888" y="2505456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236208" y="2505456"/>
            <a:ext cx="1325880" cy="347472"/>
          </a:xfrm>
          <a:prstGeom prst="rect">
            <a:avLst/>
          </a:prstGeom>
          <a:solidFill>
            <a:srgbClr val="6B6B6B">
              <a:alpha val="25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236208" y="2505456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28600" y="2898648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66928" y="2898648"/>
            <a:ext cx="1325880" cy="347472"/>
          </a:xfrm>
          <a:prstGeom prst="rect">
            <a:avLst/>
          </a:prstGeom>
          <a:solidFill>
            <a:srgbClr val="6B6B6B">
              <a:alpha val="20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66928" y="2898648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1984248" y="2898648"/>
            <a:ext cx="1325880" cy="347472"/>
          </a:xfrm>
          <a:prstGeom prst="rect">
            <a:avLst/>
          </a:prstGeom>
          <a:solidFill>
            <a:srgbClr val="6B6B6B">
              <a:alpha val="17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1984248" y="2898648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401568" y="2898648"/>
            <a:ext cx="1325880" cy="347472"/>
          </a:xfrm>
          <a:prstGeom prst="rect">
            <a:avLst/>
          </a:prstGeom>
          <a:solidFill>
            <a:srgbClr val="2E86AB">
              <a:alpha val="79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3401568" y="2898648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161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818888" y="2898648"/>
            <a:ext cx="1325880" cy="347472"/>
          </a:xfrm>
          <a:prstGeom prst="rect">
            <a:avLst/>
          </a:prstGeom>
          <a:solidFill>
            <a:srgbClr val="6B6B6B">
              <a:alpha val="23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4818888" y="2898648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236208" y="2898648"/>
            <a:ext cx="1325880" cy="347472"/>
          </a:xfrm>
          <a:prstGeom prst="rect">
            <a:avLst/>
          </a:prstGeom>
          <a:solidFill>
            <a:srgbClr val="6B6B6B">
              <a:alpha val="22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6236208" y="2898648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265176" y="329184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66928" y="3291840"/>
            <a:ext cx="1325880" cy="347472"/>
          </a:xfrm>
          <a:prstGeom prst="rect">
            <a:avLst/>
          </a:prstGeom>
          <a:solidFill>
            <a:srgbClr val="6B6B6B">
              <a:alpha val="20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566928" y="329184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1984248" y="3291840"/>
            <a:ext cx="1325880" cy="347472"/>
          </a:xfrm>
          <a:prstGeom prst="rect">
            <a:avLst/>
          </a:prstGeom>
          <a:solidFill>
            <a:srgbClr val="6B6B6B">
              <a:alpha val="17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1984248" y="329184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401568" y="3291840"/>
            <a:ext cx="1325880" cy="347472"/>
          </a:xfrm>
          <a:prstGeom prst="rect">
            <a:avLst/>
          </a:prstGeom>
          <a:solidFill>
            <a:srgbClr val="2E86AB">
              <a:alpha val="78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3401568" y="329184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818888" y="3291840"/>
            <a:ext cx="1325880" cy="347472"/>
          </a:xfrm>
          <a:prstGeom prst="rect">
            <a:avLst/>
          </a:prstGeom>
          <a:solidFill>
            <a:srgbClr val="6B6B6B">
              <a:alpha val="23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4818888" y="329184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6236208" y="3291840"/>
            <a:ext cx="1325880" cy="347472"/>
          </a:xfrm>
          <a:prstGeom prst="rect">
            <a:avLst/>
          </a:prstGeom>
          <a:solidFill>
            <a:srgbClr val="6B6B6B">
              <a:alpha val="27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6236208" y="329184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280416" y="3685032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566928" y="3685032"/>
            <a:ext cx="1325880" cy="347472"/>
          </a:xfrm>
          <a:prstGeom prst="rect">
            <a:avLst/>
          </a:prstGeom>
          <a:solidFill>
            <a:srgbClr val="6B6B6B">
              <a:alpha val="21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566928" y="3685032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1984248" y="3685032"/>
            <a:ext cx="1325880" cy="347472"/>
          </a:xfrm>
          <a:prstGeom prst="rect">
            <a:avLst/>
          </a:prstGeom>
          <a:solidFill>
            <a:srgbClr val="6B6B6B">
              <a:alpha val="13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1984248" y="3685032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3401568" y="3685032"/>
            <a:ext cx="1325880" cy="347472"/>
          </a:xfrm>
          <a:prstGeom prst="rect">
            <a:avLst/>
          </a:prstGeom>
          <a:solidFill>
            <a:srgbClr val="2E86AB">
              <a:alpha val="76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3401568" y="3685032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4818888" y="3685032"/>
            <a:ext cx="1325880" cy="347472"/>
          </a:xfrm>
          <a:prstGeom prst="rect">
            <a:avLst/>
          </a:prstGeom>
          <a:solidFill>
            <a:srgbClr val="6B6B6B">
              <a:alpha val="20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4818888" y="3685032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236208" y="3685032"/>
            <a:ext cx="1325880" cy="347472"/>
          </a:xfrm>
          <a:prstGeom prst="rect">
            <a:avLst/>
          </a:prstGeom>
          <a:solidFill>
            <a:srgbClr val="6B6B6B">
              <a:alpha val="26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6236208" y="3685032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252984" y="4078224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566928" y="4078224"/>
            <a:ext cx="1325880" cy="347472"/>
          </a:xfrm>
          <a:prstGeom prst="rect">
            <a:avLst/>
          </a:prstGeom>
          <a:solidFill>
            <a:srgbClr val="6B6B6B">
              <a:alpha val="24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566928" y="4078224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1984248" y="4078224"/>
            <a:ext cx="1325880" cy="347472"/>
          </a:xfrm>
          <a:prstGeom prst="rect">
            <a:avLst/>
          </a:prstGeom>
          <a:solidFill>
            <a:srgbClr val="6B6B6B">
              <a:alpha val="16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1984248" y="4078224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3401568" y="4078224"/>
            <a:ext cx="1325880" cy="347472"/>
          </a:xfrm>
          <a:prstGeom prst="rect">
            <a:avLst/>
          </a:prstGeom>
          <a:solidFill>
            <a:srgbClr val="2E86AB">
              <a:alpha val="90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80"/>
          <p:cNvSpPr/>
          <p:nvPr/>
        </p:nvSpPr>
        <p:spPr>
          <a:xfrm>
            <a:off x="3401568" y="4078224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818888" y="4078224"/>
            <a:ext cx="1325880" cy="347472"/>
          </a:xfrm>
          <a:prstGeom prst="rect">
            <a:avLst/>
          </a:prstGeom>
          <a:solidFill>
            <a:srgbClr val="6B6B6B">
              <a:alpha val="22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4818888" y="4078224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236208" y="4078224"/>
            <a:ext cx="1325880" cy="347472"/>
          </a:xfrm>
          <a:prstGeom prst="rect">
            <a:avLst/>
          </a:prstGeom>
          <a:solidFill>
            <a:srgbClr val="6B6B6B">
              <a:alpha val="23000"/>
            </a:srgbClr>
          </a:solidFill>
          <a:ln w="12700">
            <a:solidFill>
              <a:srgbClr val="2525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>
            <a:off x="6236208" y="4078224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7F9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7635240" y="1417320"/>
            <a:ext cx="1325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Sunday</a:t>
            </a:r>
            <a:endParaRPr lang="en-US" sz="1300" b="1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Daytime:</a:t>
            </a:r>
            <a:endParaRPr lang="en-US" sz="1300" b="1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198 deaths</a:t>
            </a:r>
            <a:endParaRPr lang="en-US" sz="1300" b="1" dirty="0"/>
          </a:p>
        </p:txBody>
      </p:sp>
      <p:sp>
        <p:nvSpPr>
          <p:cNvPr id="88" name="Text 86"/>
          <p:cNvSpPr/>
          <p:nvPr/>
        </p:nvSpPr>
        <p:spPr>
          <a:xfrm>
            <a:off x="7635240" y="2514600"/>
            <a:ext cx="1325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highest single</a:t>
            </a:r>
            <a:endParaRPr lang="en-US" sz="9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in the dataset.</a:t>
            </a:r>
            <a:endParaRPr lang="en-US" sz="9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 daytime travel is the dominant fatality pattern.</a:t>
            </a:r>
            <a:endParaRPr lang="en-US" sz="900" dirty="0"/>
          </a:p>
        </p:txBody>
      </p:sp>
      <p:sp>
        <p:nvSpPr>
          <p:cNvPr id="89" name="Text 87"/>
          <p:cNvSpPr/>
          <p:nvPr/>
        </p:nvSpPr>
        <p:spPr>
          <a:xfrm>
            <a:off x="502920" y="49560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BFE33AC-87B9-3B91-6FAD-A0A814547FDA}"/>
              </a:ext>
            </a:extLst>
          </p:cNvPr>
          <p:cNvSpPr txBox="1"/>
          <p:nvPr/>
        </p:nvSpPr>
        <p:spPr>
          <a:xfrm>
            <a:off x="390144" y="4588746"/>
            <a:ext cx="7741920" cy="333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This means fatalities are not random – which also means prevention is possible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95943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B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modest 5% intervention could prevent 136 deaths.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90472"/>
            <a:ext cx="8138160" cy="13716"/>
          </a:xfrm>
          <a:prstGeom prst="rect">
            <a:avLst/>
          </a:prstGeom>
          <a:solidFill>
            <a:srgbClr val="E5E5E3"/>
          </a:solidFill>
          <a:ln w="12700">
            <a:solidFill>
              <a:srgbClr val="E5E5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6459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96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502920" y="299923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lives saved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33375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targeted intervention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across all theatres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11880" y="1600200"/>
            <a:ext cx="13716" cy="2560320"/>
          </a:xfrm>
          <a:prstGeom prst="rect">
            <a:avLst/>
          </a:prstGeom>
          <a:solidFill>
            <a:srgbClr val="E5E5E3"/>
          </a:solidFill>
          <a:ln w="12700">
            <a:solidFill>
              <a:srgbClr val="E5E5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794760" y="16002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saved by intervention theatre</a:t>
            </a:r>
            <a:endParaRPr lang="en-US" sz="1100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3703320" y="1938528"/>
          <a:ext cx="5074920" cy="2148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Text 8"/>
          <p:cNvSpPr/>
          <p:nvPr/>
        </p:nvSpPr>
        <p:spPr>
          <a:xfrm>
            <a:off x="502920" y="422452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roads deliver the greatest impact per intervention dollar</a:t>
            </a:r>
          </a:p>
          <a:p>
            <a:pPr marL="0" indent="0">
              <a:buNone/>
            </a:pPr>
            <a:r>
              <a:rPr lang="en-US" sz="15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So the policy response should be targeted, measurable and immediate</a:t>
            </a:r>
            <a:endParaRPr lang="en-US" sz="1500" b="1" dirty="0"/>
          </a:p>
        </p:txBody>
      </p:sp>
      <p:sp>
        <p:nvSpPr>
          <p:cNvPr id="12" name="Text 9"/>
          <p:cNvSpPr/>
          <p:nvPr/>
        </p:nvSpPr>
        <p:spPr>
          <a:xfrm>
            <a:off x="502920" y="49560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BITRE ARDD dashboard what-if parameterisation · DVN Group 18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8138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targeted actions. One funding commitment.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8138160" cy="13716"/>
          </a:xfrm>
          <a:prstGeom prst="rect">
            <a:avLst/>
          </a:prstGeom>
          <a:solidFill>
            <a:srgbClr val="E5E5E3"/>
          </a:solidFill>
          <a:ln w="12700">
            <a:solidFill>
              <a:srgbClr val="E5E5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298448"/>
            <a:ext cx="685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1261872" y="1389888"/>
            <a:ext cx="36576" cy="82296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417320" y="137160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Regional Roads in next Funding cycle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1728216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35000"/>
              </a:lnSpc>
            </a:pPr>
            <a:r>
              <a:rPr lang="en-US" sz="10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roads carry 39% of all deaths — the highest of any theatre — yet receive the smallest share of safety investment. NT, WA and QLD are the priority states. The largest single-theatre fatality reduction opportunity in this scenario.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2395728"/>
            <a:ext cx="8138160" cy="13716"/>
          </a:xfrm>
          <a:prstGeom prst="rect">
            <a:avLst/>
          </a:prstGeom>
          <a:solidFill>
            <a:srgbClr val="E5E5E3"/>
          </a:solidFill>
          <a:ln w="12700">
            <a:solidFill>
              <a:srgbClr val="E5E5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" y="2468880"/>
            <a:ext cx="685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1261872" y="2560320"/>
            <a:ext cx="36576" cy="82296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417320" y="2542032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Urban Pedestrians and Cyclists before Fatalities rise further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2898648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Major-city streets account for 30% of deaths, overwhelmingly affecting pedestrians and cyclists. Targeted urban speed reduction and infrastructure upgrades will address the city-specific risk profile.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3566160"/>
            <a:ext cx="8138160" cy="13716"/>
          </a:xfrm>
          <a:prstGeom prst="rect">
            <a:avLst/>
          </a:prstGeom>
          <a:solidFill>
            <a:srgbClr val="E5E5E3"/>
          </a:solidFill>
          <a:ln w="12700">
            <a:solidFill>
              <a:srgbClr val="E5E5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2920" y="3639312"/>
            <a:ext cx="685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1261872" y="3730752"/>
            <a:ext cx="36576" cy="82296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417320" y="3712464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Dashboard into a National Accountability Tracker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4069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is already built and live on Tableau Public. Commission it as an official quarterly monitoring tool. Transparent public reporting is what sustains political will across election cycles.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49560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DVN — Group 18  ·  BITRE ARDD + ABS Population + Open-Meteo  ·  May 2026</a:t>
            </a:r>
            <a:endParaRPr lang="en-US" sz="8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0DC81A-CDDD-629F-6812-F2595D908185}"/>
              </a:ext>
            </a:extLst>
          </p:cNvPr>
          <p:cNvSpPr txBox="1"/>
          <p:nvPr/>
        </p:nvSpPr>
        <p:spPr>
          <a:xfrm>
            <a:off x="502920" y="4648271"/>
            <a:ext cx="71628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/>
              <a:t>The evidence is already visible. The remaining question is whether action follows.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35424" y="0"/>
            <a:ext cx="36576" cy="514350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kern="0" spc="3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IS YOURS.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36576" cy="96012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960120"/>
            <a:ext cx="3657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7F9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2,714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15361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fatalities in scope (2024–Jan 2026)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21408"/>
            <a:ext cx="36576" cy="96012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167128"/>
            <a:ext cx="3657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7F9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70.8%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deaths in two addressable theatres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328416"/>
            <a:ext cx="36576" cy="96012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3374136"/>
            <a:ext cx="3657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7F9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96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640080" y="395020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saved at just 5% targeted intervention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590288"/>
            <a:ext cx="3840480" cy="13716"/>
          </a:xfrm>
          <a:prstGeom prst="rect">
            <a:avLst/>
          </a:prstGeom>
          <a:solidFill>
            <a:srgbClr val="253545"/>
          </a:solidFill>
          <a:ln w="12700">
            <a:solidFill>
              <a:srgbClr val="2535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" y="4754880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BITRE ARDD + ABS Population + Open-Meteo  ·  DVN  Group 18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800600" y="3328416"/>
            <a:ext cx="4114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1B2A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17" name="Shape 15"/>
          <p:cNvSpPr/>
          <p:nvPr/>
        </p:nvSpPr>
        <p:spPr>
          <a:xfrm>
            <a:off x="4800600" y="4786376"/>
            <a:ext cx="4114800" cy="13716"/>
          </a:xfrm>
          <a:prstGeom prst="rect">
            <a:avLst/>
          </a:prstGeom>
          <a:solidFill>
            <a:srgbClr val="E5E5E3"/>
          </a:solidFill>
          <a:ln w="12700">
            <a:solidFill>
              <a:srgbClr val="E5E5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00600" y="475488"/>
            <a:ext cx="4114800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/>
              <a:t>Road fatalities are no longer a mystery problem.</a:t>
            </a:r>
            <a:br>
              <a:rPr lang="en-US" b="1" dirty="0"/>
            </a:br>
            <a:r>
              <a:rPr lang="en-US" b="1" dirty="0"/>
              <a:t>The data now shows exactly where intervention saves the most lives.</a:t>
            </a:r>
            <a:endParaRPr lang="en-US" sz="1800" b="1" dirty="0"/>
          </a:p>
        </p:txBody>
      </p:sp>
      <p:sp>
        <p:nvSpPr>
          <p:cNvPr id="19" name="Text 17"/>
          <p:cNvSpPr/>
          <p:nvPr/>
        </p:nvSpPr>
        <p:spPr>
          <a:xfrm>
            <a:off x="4800600" y="4224528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0600" y="446227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688840" y="466344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787</Words>
  <Application>Microsoft Office PowerPoint</Application>
  <PresentationFormat>On-screen Show (16:9)</PresentationFormat>
  <Paragraphs>160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Everyday Fatality Pattern</dc:title>
  <dc:subject>PptxGenJS Presentation</dc:subject>
  <dc:creator>PptxGenJS</dc:creator>
  <cp:lastModifiedBy>Pal Patel</cp:lastModifiedBy>
  <cp:revision>8</cp:revision>
  <dcterms:created xsi:type="dcterms:W3CDTF">2026-05-12T11:41:26Z</dcterms:created>
  <dcterms:modified xsi:type="dcterms:W3CDTF">2026-05-26T12:43:08Z</dcterms:modified>
</cp:coreProperties>
</file>